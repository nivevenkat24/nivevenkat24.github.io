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2b78b65c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2b78b65c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his presentation explores the key factors driving billionaire wealth across industries, countries, and demographics. We’ll also examine economic correlations and trends shaping wealth distribution over time.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3051e9b0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3051e9b0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2b78b65cc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2b78b65cc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Billionaire wealth is not evenly distributed worldwide. The United States, China, and India dominate in billionaire count, reflecting their economic strength and innovation ecosystems.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d89a4723d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d89a4723d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Tech and finance drive billionaire wealth, while traditional industries like retail and manufacturing still hold a significant share. However, innovation remains a key factor in long-term wealth accumulation.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2b78b65cc7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2b78b65cc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Our analysis shows that </a:t>
            </a:r>
            <a:r>
              <a:rPr b="1" lang="en">
                <a:solidFill>
                  <a:schemeClr val="dk1"/>
                </a:solidFill>
              </a:rPr>
              <a:t>technology and finance</a:t>
            </a:r>
            <a:r>
              <a:rPr lang="en">
                <a:solidFill>
                  <a:schemeClr val="dk1"/>
                </a:solidFill>
              </a:rPr>
              <a:t> are the leading industries for billionaire wealth, followed by retail and manufacturing. Geographically, the </a:t>
            </a:r>
            <a:r>
              <a:rPr b="1" lang="en">
                <a:solidFill>
                  <a:schemeClr val="dk1"/>
                </a:solidFill>
              </a:rPr>
              <a:t>United States, China, and India</a:t>
            </a:r>
            <a:r>
              <a:rPr lang="en">
                <a:solidFill>
                  <a:schemeClr val="dk1"/>
                </a:solidFill>
              </a:rPr>
              <a:t> dominate the billionaire landscape, reinforcing their status as economic powerhouses. These trends highlight the importance of innovation and economic growth in wealth accumulation.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d89a4723d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d89a4723d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While billionaires are still predominantly male, the gap is closing. A significant number are self-made, showing that entrepreneurship is a key driver of wealth. However, inherited wealth remains strong in traditional industries.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89a4723d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d89a4723d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When analyzing age and net worth, we see that billionaires in the tech industry tend to have higher net worths and a lower median age compared to those in other industries. Younger billionaires are predominantly in tech, while older billionaires have accumulated wealth in more traditional industries like finance and retail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b78b65cc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2b78b65cc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d89a4723dd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d89a4723dd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Analysis reveals a strong </a:t>
            </a:r>
            <a:r>
              <a:rPr b="1" lang="en">
                <a:solidFill>
                  <a:schemeClr val="dk1"/>
                </a:solidFill>
              </a:rPr>
              <a:t>correlation between GDP and billionaire wealth</a:t>
            </a:r>
            <a:r>
              <a:rPr lang="en">
                <a:solidFill>
                  <a:schemeClr val="dk1"/>
                </a:solidFill>
              </a:rPr>
              <a:t>—countries with strong economies tend to produce more billionaires. Interestingly, while higher tax rates </a:t>
            </a:r>
            <a:r>
              <a:rPr b="1" lang="en">
                <a:solidFill>
                  <a:schemeClr val="dk1"/>
                </a:solidFill>
              </a:rPr>
              <a:t>don’t necessarily prevent wealth accumulation</a:t>
            </a:r>
            <a:r>
              <a:rPr lang="en">
                <a:solidFill>
                  <a:schemeClr val="dk1"/>
                </a:solidFill>
              </a:rPr>
              <a:t>, they do impact wealth mobility and investment behavior. Inflation and economic stability also play a role in preserving billionaire wealth over time.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d89a4723dd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d89a4723dd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There is a strong correlation between GDP and billionaire wealth—richer economies produce more billionaires. However, the impact of tax rates is mixed; some high-tax countries still support billionaire growth. Inflation (CPI) plays a role in long-term wealth retention.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d89a4723dd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d89a4723dd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Billionaire wealth is increasing, especially in emerging markets like China and India. The future of wealth creation will be driven by AI, sustainability, and fintech, reshaping the global economic landscape.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d89a4723dd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d89a4723dd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 conclude, billionaire wealth is </a:t>
            </a:r>
            <a:r>
              <a:rPr b="1" lang="en">
                <a:solidFill>
                  <a:schemeClr val="dk1"/>
                </a:solidFill>
              </a:rPr>
              <a:t>deeply tied to innovation, economic growth, and policy decisions</a:t>
            </a:r>
            <a:r>
              <a:rPr lang="en">
                <a:solidFill>
                  <a:schemeClr val="dk1"/>
                </a:solidFill>
              </a:rPr>
              <a:t>. Tech and finance remain dominant, but </a:t>
            </a:r>
            <a:r>
              <a:rPr b="1" lang="en">
                <a:solidFill>
                  <a:schemeClr val="dk1"/>
                </a:solidFill>
              </a:rPr>
              <a:t>AI, sustainability, and digital finance</a:t>
            </a:r>
            <a:r>
              <a:rPr lang="en">
                <a:solidFill>
                  <a:schemeClr val="dk1"/>
                </a:solidFill>
              </a:rPr>
              <a:t> are the next frontiers. Understanding these trends helps businesses, policymakers, and investors prepare for the future of wealth creation.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d89a4723dd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d89a4723dd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your time. This analysis provides valuable insights into how wealth is created and distributed globally. I welcome any questions or discussions.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d89a4723dd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d89a4723dd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Geographically, the </a:t>
            </a:r>
            <a:r>
              <a:rPr b="1" lang="en">
                <a:solidFill>
                  <a:schemeClr val="dk1"/>
                </a:solidFill>
              </a:rPr>
              <a:t>United States, China, and India</a:t>
            </a:r>
            <a:r>
              <a:rPr lang="en">
                <a:solidFill>
                  <a:schemeClr val="dk1"/>
                </a:solidFill>
              </a:rPr>
              <a:t> dominate the billionaire landscape, reinforcing their status as economic powerhouses.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kaggle.com/datasets/nelgiriyewithana/billionaires-statistics-dataset" TargetMode="Externa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900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58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600">
                <a:solidFill>
                  <a:schemeClr val="lt1"/>
                </a:solidFill>
              </a:rPr>
              <a:t>Billionaire Wealth &amp; Economic Trends</a:t>
            </a:r>
            <a:endParaRPr b="1" sz="6700"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992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2600">
                <a:solidFill>
                  <a:schemeClr val="lt1"/>
                </a:solidFill>
              </a:rPr>
              <a:t>Key Insights &amp; Takeaways</a:t>
            </a:r>
            <a:endParaRPr b="1" sz="3000">
              <a:solidFill>
                <a:schemeClr val="lt1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9103" y="-213625"/>
            <a:ext cx="1598925" cy="90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0" y="744575"/>
            <a:ext cx="8520600" cy="158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600">
                <a:solidFill>
                  <a:schemeClr val="lt1"/>
                </a:solidFill>
              </a:rPr>
              <a:t>Billionaire Wealth &amp; Economic Trends</a:t>
            </a:r>
            <a:endParaRPr b="1" sz="6700">
              <a:solidFill>
                <a:schemeClr val="lt1"/>
              </a:solidFill>
            </a:endParaRPr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21754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i="1" lang="en" sz="2520">
                <a:solidFill>
                  <a:srgbClr val="9900FF"/>
                </a:solidFill>
              </a:rPr>
              <a:t>D</a:t>
            </a:r>
            <a:r>
              <a:rPr b="1" i="1" lang="en" sz="2520">
                <a:solidFill>
                  <a:srgbClr val="9900FF"/>
                </a:solidFill>
              </a:rPr>
              <a:t>id you know that the combined wealth of the top 10 billionaires is greater than the GDP of over 100 countries?</a:t>
            </a:r>
            <a:endParaRPr b="1" sz="2800">
              <a:solidFill>
                <a:srgbClr val="9900FF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9103" y="-213625"/>
            <a:ext cx="1598925" cy="90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Wealth Distribution Country</a:t>
            </a:r>
            <a:endParaRPr sz="3200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4592400" cy="3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9103" y="-213625"/>
            <a:ext cx="1598925" cy="9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9186" y="1017725"/>
            <a:ext cx="6745628" cy="379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Wealth Distribution by Industry </a:t>
            </a:r>
            <a:endParaRPr sz="3200"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9103" y="-213625"/>
            <a:ext cx="1598925" cy="9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5578" y="1170125"/>
            <a:ext cx="679284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Wealth Distribution by Industry &amp; Country</a:t>
            </a:r>
            <a:endParaRPr sz="3200"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7774800" cy="3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b="1" lang="en" sz="2600">
                <a:solidFill>
                  <a:schemeClr val="dk1"/>
                </a:solidFill>
              </a:rPr>
              <a:t>Tech &amp; Finance dominate</a:t>
            </a:r>
            <a:r>
              <a:rPr lang="en" sz="2600">
                <a:solidFill>
                  <a:schemeClr val="dk1"/>
                </a:solidFill>
              </a:rPr>
              <a:t> billionaire wealth.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b="1" lang="en" sz="2600">
                <a:solidFill>
                  <a:schemeClr val="dk1"/>
                </a:solidFill>
              </a:rPr>
              <a:t>U.S., China, &amp; India</a:t>
            </a:r>
            <a:r>
              <a:rPr lang="en" sz="2600">
                <a:solidFill>
                  <a:schemeClr val="dk1"/>
                </a:solidFill>
              </a:rPr>
              <a:t> house the most billionaires.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" sz="2600">
                <a:solidFill>
                  <a:schemeClr val="dk1"/>
                </a:solidFill>
              </a:rPr>
              <a:t>Retail &amp; traditional industries still hold major share, but innovation is key.</a:t>
            </a:r>
            <a:endParaRPr sz="2400"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9103" y="-213625"/>
            <a:ext cx="1598925" cy="90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520"/>
              <a:t>Demographics - Gender, &amp; Self-Made vs. Inherited Wealth</a:t>
            </a:r>
            <a:endParaRPr sz="4100"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4592400" cy="3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9103" y="-213625"/>
            <a:ext cx="1598925" cy="9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2624" y="1152475"/>
            <a:ext cx="6778752" cy="3813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20"/>
              <a:t>Demographics - Age</a:t>
            </a:r>
            <a:endParaRPr sz="4800"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4592400" cy="3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9103" y="-213625"/>
            <a:ext cx="1598925" cy="9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654" y="1017725"/>
            <a:ext cx="7334692" cy="412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/>
              <a:t>Demographics - Age, Gender, &amp; Self-Made vs. Inherited Wealth</a:t>
            </a:r>
            <a:endParaRPr sz="2220"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116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b="1" lang="en" sz="2100">
                <a:solidFill>
                  <a:schemeClr val="dk1"/>
                </a:solidFill>
              </a:rPr>
              <a:t>Tech billionaires</a:t>
            </a:r>
            <a:r>
              <a:rPr lang="en" sz="2100">
                <a:solidFill>
                  <a:schemeClr val="dk1"/>
                </a:solidFill>
              </a:rPr>
              <a:t> are younger, wealthier.</a:t>
            </a:r>
            <a:endParaRPr sz="2100">
              <a:solidFill>
                <a:schemeClr val="dk1"/>
              </a:solidFill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lang="en" sz="2100">
                <a:solidFill>
                  <a:schemeClr val="dk1"/>
                </a:solidFill>
              </a:rPr>
              <a:t>Traditional industries have older billionaires.</a:t>
            </a:r>
            <a:endParaRPr sz="2100">
              <a:solidFill>
                <a:schemeClr val="dk1"/>
              </a:solidFill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b="1" lang="en" sz="2100">
                <a:solidFill>
                  <a:schemeClr val="dk1"/>
                </a:solidFill>
              </a:rPr>
              <a:t>Finance,</a:t>
            </a:r>
            <a:r>
              <a:rPr lang="en" sz="2100">
                <a:solidFill>
                  <a:schemeClr val="dk1"/>
                </a:solidFill>
              </a:rPr>
              <a:t> retail dominate older billionaire wealth.</a:t>
            </a:r>
            <a:endParaRPr sz="2100">
              <a:solidFill>
                <a:schemeClr val="dk1"/>
              </a:solidFill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lang="en" sz="2100">
                <a:solidFill>
                  <a:schemeClr val="dk1"/>
                </a:solidFill>
              </a:rPr>
              <a:t>Age and industry impact net worth.</a:t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9103" y="-213625"/>
            <a:ext cx="1598925" cy="90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461750" y="1144150"/>
            <a:ext cx="7599600" cy="39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9103" y="-213625"/>
            <a:ext cx="1598925" cy="9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3476" y="1195125"/>
            <a:ext cx="6937048" cy="39021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</a:rPr>
              <a:t>Economic Correlations – GDP, CPI, &amp; Tax Rates</a:t>
            </a:r>
            <a:endParaRPr sz="3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461750" y="1144150"/>
            <a:ext cx="7599600" cy="39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9103" y="-213625"/>
            <a:ext cx="1598925" cy="90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2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</a:rPr>
              <a:t>Economic Correlations – GDP, CPI, &amp; Tax Rates</a:t>
            </a:r>
            <a:endParaRPr sz="3000">
              <a:solidFill>
                <a:srgbClr val="000000"/>
              </a:solidFill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lang="en" sz="2300">
                <a:solidFill>
                  <a:srgbClr val="000000"/>
                </a:solidFill>
              </a:rPr>
              <a:t>Strong correlation between </a:t>
            </a:r>
            <a:r>
              <a:rPr b="1" lang="en" sz="2300">
                <a:solidFill>
                  <a:srgbClr val="000000"/>
                </a:solidFill>
              </a:rPr>
              <a:t>GDP growth &amp; billionaire count</a:t>
            </a:r>
            <a:r>
              <a:rPr lang="en" sz="2300">
                <a:solidFill>
                  <a:srgbClr val="000000"/>
                </a:solidFill>
              </a:rPr>
              <a:t>.</a:t>
            </a:r>
            <a:endParaRPr sz="2300">
              <a:solidFill>
                <a:srgbClr val="000000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lang="en" sz="2300">
                <a:solidFill>
                  <a:srgbClr val="000000"/>
                </a:solidFill>
              </a:rPr>
              <a:t>Countries with </a:t>
            </a:r>
            <a:r>
              <a:rPr b="1" lang="en" sz="2300">
                <a:solidFill>
                  <a:srgbClr val="000000"/>
                </a:solidFill>
              </a:rPr>
              <a:t>higher GDPs</a:t>
            </a:r>
            <a:r>
              <a:rPr lang="en" sz="2300">
                <a:solidFill>
                  <a:srgbClr val="000000"/>
                </a:solidFill>
              </a:rPr>
              <a:t> tend to have more billionaires.</a:t>
            </a:r>
            <a:endParaRPr sz="2300">
              <a:solidFill>
                <a:srgbClr val="000000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b="1" lang="en" sz="2300">
                <a:solidFill>
                  <a:srgbClr val="000000"/>
                </a:solidFill>
              </a:rPr>
              <a:t>Tax rates show mixed impact</a:t>
            </a:r>
            <a:r>
              <a:rPr lang="en" sz="2300">
                <a:solidFill>
                  <a:srgbClr val="000000"/>
                </a:solidFill>
              </a:rPr>
              <a:t>—some high-tax countries still foster billionaire wealth.</a:t>
            </a:r>
            <a:endParaRPr sz="2300">
              <a:solidFill>
                <a:srgbClr val="000000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lang="en" sz="2300">
                <a:solidFill>
                  <a:srgbClr val="000000"/>
                </a:solidFill>
              </a:rPr>
              <a:t>Inflation &amp; economic stability (CPI) affect long-term wealth retention.</a:t>
            </a: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320"/>
              <a:t> Trends Over Time &amp; Future Outlook</a:t>
            </a:r>
            <a:endParaRPr sz="3320"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" sz="2100">
                <a:solidFill>
                  <a:schemeClr val="dk1"/>
                </a:solidFill>
              </a:rPr>
              <a:t>Billionaire wealth is growing rapidly</a:t>
            </a:r>
            <a:r>
              <a:rPr lang="en" sz="2100">
                <a:solidFill>
                  <a:schemeClr val="dk1"/>
                </a:solidFill>
              </a:rPr>
              <a:t>, particularly in emerging markets.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" sz="2100">
                <a:solidFill>
                  <a:schemeClr val="dk1"/>
                </a:solidFill>
              </a:rPr>
              <a:t>Tech &amp; digital industries continue to create new billionaires</a:t>
            </a:r>
            <a:r>
              <a:rPr lang="en" sz="2100">
                <a:solidFill>
                  <a:schemeClr val="dk1"/>
                </a:solidFill>
              </a:rPr>
              <a:t>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" sz="2100">
                <a:solidFill>
                  <a:schemeClr val="dk1"/>
                </a:solidFill>
              </a:rPr>
              <a:t>Asia is gaining ground</a:t>
            </a:r>
            <a:r>
              <a:rPr lang="en" sz="2100">
                <a:solidFill>
                  <a:schemeClr val="dk1"/>
                </a:solidFill>
              </a:rPr>
              <a:t>, with China &amp; India showing increasing billionaire numbers.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Future wealth creation will be shaped by </a:t>
            </a:r>
            <a:r>
              <a:rPr b="1" lang="en" sz="2100">
                <a:solidFill>
                  <a:schemeClr val="dk1"/>
                </a:solidFill>
              </a:rPr>
              <a:t>AI, sustainability, and fintech</a:t>
            </a:r>
            <a:r>
              <a:rPr lang="en" sz="2100">
                <a:solidFill>
                  <a:schemeClr val="dk1"/>
                </a:solidFill>
              </a:rPr>
              <a:t>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9103" y="-213625"/>
            <a:ext cx="1598925" cy="90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/>
              <a:t>Final Takeaway</a:t>
            </a:r>
            <a:endParaRPr sz="3220"/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" sz="2100">
                <a:solidFill>
                  <a:schemeClr val="dk1"/>
                </a:solidFill>
              </a:rPr>
              <a:t>Innovation &amp; disruption drive modern wealth.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" sz="2100">
                <a:solidFill>
                  <a:schemeClr val="dk1"/>
                </a:solidFill>
              </a:rPr>
              <a:t>Countries with strong economic growth foster billionaire expansion.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" sz="2100">
                <a:solidFill>
                  <a:schemeClr val="dk1"/>
                </a:solidFill>
              </a:rPr>
              <a:t>Future industries: AI, clean energy, and digital finance.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" sz="2100">
                <a:solidFill>
                  <a:schemeClr val="dk1"/>
                </a:solidFill>
              </a:rPr>
              <a:t>Policy &amp; taxation will continue shaping global wealth distribution.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9103" y="-213625"/>
            <a:ext cx="1598925" cy="90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900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ctrTitle"/>
          </p:nvPr>
        </p:nvSpPr>
        <p:spPr>
          <a:xfrm>
            <a:off x="311700" y="744575"/>
            <a:ext cx="8520600" cy="158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lt1"/>
                </a:solidFill>
              </a:rPr>
              <a:t>THANK YOU</a:t>
            </a:r>
            <a:endParaRPr b="1" sz="6700">
              <a:solidFill>
                <a:schemeClr val="lt1"/>
              </a:solidFill>
            </a:endParaRPr>
          </a:p>
        </p:txBody>
      </p:sp>
      <p:sp>
        <p:nvSpPr>
          <p:cNvPr id="144" name="Google Shape;144;p25"/>
          <p:cNvSpPr txBox="1"/>
          <p:nvPr>
            <p:ph idx="1" type="subTitle"/>
          </p:nvPr>
        </p:nvSpPr>
        <p:spPr>
          <a:xfrm>
            <a:off x="311700" y="23992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Arial"/>
              <a:buNone/>
            </a:pPr>
            <a:r>
              <a:rPr b="1" i="1" lang="en" sz="2600">
                <a:solidFill>
                  <a:schemeClr val="lt1"/>
                </a:solidFill>
              </a:rPr>
              <a:t>BY</a:t>
            </a:r>
            <a:endParaRPr b="1" i="1" sz="26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Arial"/>
              <a:buNone/>
            </a:pPr>
            <a:r>
              <a:t/>
            </a:r>
            <a:endParaRPr b="1" i="1" sz="26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Arial"/>
              <a:buNone/>
            </a:pPr>
            <a:r>
              <a:rPr b="1" i="1" lang="en" sz="2600">
                <a:solidFill>
                  <a:schemeClr val="lt1"/>
                </a:solidFill>
              </a:rPr>
              <a:t>NIVE VENKAT</a:t>
            </a:r>
            <a:endParaRPr b="1" i="1" sz="2600">
              <a:solidFill>
                <a:schemeClr val="lt1"/>
              </a:solidFill>
            </a:endParaRPr>
          </a:p>
        </p:txBody>
      </p:sp>
      <p:pic>
        <p:nvPicPr>
          <p:cNvPr id="145" name="Google Shape;14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9103" y="-213625"/>
            <a:ext cx="1598925" cy="90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Data Set (Source)</a:t>
            </a:r>
            <a:endParaRPr sz="3200"/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311700" y="1152475"/>
            <a:ext cx="8072100" cy="19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https://www.kaggle.com/datasets/nelgiriyewithana/billionaires-statistics-dataset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52" name="Google Shape;15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9103" y="-213625"/>
            <a:ext cx="1598925" cy="90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